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7146950" y="1477670"/>
            <a:ext cx="1307592" cy="470733"/>
          </a:xfrm>
          <a:prstGeom prst="line">
            <a:avLst/>
          </a:prstGeom>
          <a:noFill/>
          <a:ln w="49530">
            <a:solidFill>
              <a:srgbClr val="0F8B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4542" y="1477670"/>
            <a:ext cx="1307592" cy="470733"/>
          </a:xfrm>
          <a:prstGeom prst="line">
            <a:avLst/>
          </a:prstGeom>
          <a:noFill/>
          <a:ln w="49530">
            <a:solidFill>
              <a:srgbClr val="0F8B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46950" y="1948404"/>
            <a:ext cx="1307592" cy="470733"/>
          </a:xfrm>
          <a:prstGeom prst="line">
            <a:avLst/>
          </a:prstGeom>
          <a:noFill/>
          <a:ln w="49530">
            <a:solidFill>
              <a:srgbClr val="0F8B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8454542" y="1948404"/>
            <a:ext cx="1307592" cy="470733"/>
          </a:xfrm>
          <a:prstGeom prst="line">
            <a:avLst/>
          </a:prstGeom>
          <a:noFill/>
          <a:ln w="49530">
            <a:solidFill>
              <a:srgbClr val="0F8B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9762134" y="1713037"/>
            <a:ext cx="1307592" cy="235367"/>
          </a:xfrm>
          <a:prstGeom prst="line">
            <a:avLst/>
          </a:prstGeom>
          <a:noFill/>
          <a:ln w="49530">
            <a:solidFill>
              <a:srgbClr val="0F8B8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4542" y="1477670"/>
            <a:ext cx="2615184" cy="235367"/>
          </a:xfrm>
          <a:prstGeom prst="line">
            <a:avLst/>
          </a:prstGeom>
          <a:noFill/>
          <a:ln w="49530">
            <a:solidFill>
              <a:srgbClr val="0F8B8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0" y="1568013"/>
            <a:ext cx="760781" cy="760781"/>
          </a:xfrm>
          <a:prstGeom prst="ellipse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4152" y="1097280"/>
            <a:ext cx="760781" cy="760781"/>
          </a:xfrm>
          <a:prstGeom prst="ellipse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81744" y="1568013"/>
            <a:ext cx="760781" cy="760781"/>
          </a:xfrm>
          <a:prstGeom prst="ellipse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74152" y="2038746"/>
            <a:ext cx="760781" cy="760781"/>
          </a:xfrm>
          <a:prstGeom prst="ellipse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89336" y="1332647"/>
            <a:ext cx="760781" cy="760781"/>
          </a:xfrm>
          <a:prstGeom prst="ellipse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3774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GRCh38 to a Pangenome Graph Reference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862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Re-engineering the NCGM WGSpipeline germline workflow around vg giraffe and DeepVariant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BioHackathon 2026  ·  National Institute of Genetics (Human Population Genetics)  ·  Yosuke Kawai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WGSpipeline → pangenome graph reference  ·  BioHackathon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Goal: same pipeline contract, graph-aware alignment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reference, not the ecosystem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766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WGSpipeline (github.com/NCGM-genome/WGSpipeline) is the production germline WGS workflow: FASTQ → CRAM → gVCF, in CWL (and Nextflow), on GRCh38 with NVIDIA Parabricks.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GRCh38 causes reference bias: reads from non-reference haplotypes map poorly or not at all — a known limitation for population-specific (e.g. Japanese) variation.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map to a pangenome graph (HPRC or a custom Japanese graph), but keep every downstream consumer unchanged.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Non-negotiables: identical inputs (FASTQ pairs + @RG strings), identical output layout (CRAM + five ploidy-aware gVCFs), GRCh38 coordinates, CWL first.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0" y="173736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D7F0F0"/>
          </a:solidFill>
          <a:ln w="12700">
            <a:solidFill>
              <a:srgbClr val="D7F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Unchanged contract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237744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fq1[] / fq2[] / rg[]  ·  4 interval BEDs  ·  prefix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&lt;prefix&gt;.cram (+crai)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&lt;prefix&gt;.autosome.g.vcf.gz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&lt;prefix&gt;.PAR.g.vcf.gz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&lt;prefix&gt;.chrX_female.g.vcf.gz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&lt;prefix&gt;.chrX_male.g.vcf.gz  (haploid)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&lt;prefix&gt;.chrY.g.vcf.gz  (haploid)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Sentieon joint calling · CNVkit · Manta — all GRCh38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WGSpipeline → pangenome graph reference  ·  BioHackathon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changes, what stays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germline-gpu.cwl  →  germline-pangenome-{cpu,gpu}.cwl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206240"/>
                <a:gridCol w="5212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GRCh38 workflow (today)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Pangenome workflow (new)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Homo_sapiens_assembly38.fasta + BWA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GBZ graph + giraffe indexes (.dist .min .zipcodes) + linear FASTA for CRAM/DV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pbrun fq2bam (BWA-MEM, GPU)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 giraffe (CPU)  /  pbrun giraffe (GPU) — surjected onto GRCh38 paths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 caller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pbrun haplotypecaller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DeepVariant (google/deepvariant)  /  pbrun deepvariant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Ploidy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--ploidy 1 / 2 per interval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--haploid_contigs chrX / chrY per interval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BQSR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--knownSites → recal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 by DeepVariant → markdup metrics instead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GRCh38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GRCh38 (graph prefix GRCh38#0# stripped)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layout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CRAM + 5 gVCFs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CRAM + 5 gVCFs (identical)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WGSpipeline → pangenome graph reference  ·  BioHackathon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graph alignment, linear everything else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Surjection at the aligner keeps the rest of the pipeline standard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1737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FASTQ pairs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per @RG)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2148840"/>
            <a:ext cx="365760" cy="91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43200" y="173736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737360"/>
            <a:ext cx="2377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 giraffe / pbrun giraffe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BAM on GRCh38 paths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66360" y="2148840"/>
            <a:ext cx="365760" cy="91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77840" y="17373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0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samtools: strip GRCh38#0#,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@RG, fixmate, sort, merge, markdup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75320" y="2148840"/>
            <a:ext cx="365760" cy="91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6800" y="173736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0" y="1737360"/>
            <a:ext cx="1463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(GRCh38)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18320" y="2560320"/>
            <a:ext cx="9144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77340" y="2880360"/>
            <a:ext cx="9006840" cy="91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7340" y="2880360"/>
            <a:ext cx="9144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32918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D7F0F0"/>
          </a:solidFill>
          <a:ln w="12700">
            <a:solidFill>
              <a:srgbClr val="D7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291840"/>
            <a:ext cx="20574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DeepVariant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autosome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diploid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577340" y="4160520"/>
            <a:ext cx="9144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443484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434840"/>
            <a:ext cx="2057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&lt;prefix&gt;.autosome.g.vcf.gz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17620" y="2880360"/>
            <a:ext cx="9144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788920" y="32918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D7F0F0"/>
          </a:solidFill>
          <a:ln w="12700">
            <a:solidFill>
              <a:srgbClr val="D7F0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88920" y="3291840"/>
            <a:ext cx="20574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DeepVariant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diploid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17620" y="4160520"/>
            <a:ext cx="9144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788920" y="443484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88920" y="4434840"/>
            <a:ext cx="2057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&lt;prefix&gt;.PAR.g.vcf.gz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57900" y="2880360"/>
            <a:ext cx="9144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29200" y="32918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D7F0F0"/>
          </a:solidFill>
          <a:ln w="12700">
            <a:solidFill>
              <a:srgbClr val="D7F0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29200" y="3291840"/>
            <a:ext cx="20574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DeepVariant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chrX female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diploid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57900" y="4160520"/>
            <a:ext cx="9144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029200" y="443484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29200" y="4434840"/>
            <a:ext cx="2057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&lt;prefix&gt;.chrX_female.g.vcf.gz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98180" y="2880360"/>
            <a:ext cx="9144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269480" y="32918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D7F0F0"/>
          </a:solidFill>
          <a:ln w="12700">
            <a:solidFill>
              <a:srgbClr val="D7F0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69480" y="3291840"/>
            <a:ext cx="20574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DeepVariant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chrX male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haploid_contigs=chrX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98180" y="4160520"/>
            <a:ext cx="9144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269480" y="443484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269480" y="4434840"/>
            <a:ext cx="2057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&lt;prefix&gt;.chrX_male.g.vcf.gz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538460" y="2880360"/>
            <a:ext cx="9144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509760" y="32918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D7F0F0"/>
          </a:solidFill>
          <a:ln w="12700">
            <a:solidFill>
              <a:srgbClr val="D7F0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509760" y="3291840"/>
            <a:ext cx="20574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DeepVariant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haploid_contigs=chrY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538460" y="4160520"/>
            <a:ext cx="9144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509760" y="443484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509760" y="4434840"/>
            <a:ext cx="2057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&lt;prefix&gt;.chrY.g.vcf.gz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inputs are plain workflow parameters (gbz, dist, min, zipcodes, ref_paths, ref_path_prefix) — HPRC v2.0, a custom Japanese graph, or a toy graph plug in without code changes.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WGSpipeline → pangenome graph reference  ·  BioHackathon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tracks, one contract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for portability and hackathon testing; GPU for production throughput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germline-pangenome-cpu.cwl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 1.70.0 · samtools 1.21 · google/deepvariant 1.10.0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803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 giraffe per read group (CWL scatter), --ref-paths → BAM in GRCh38 path coordinates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samtools reheader (prefix strip) → addreplacerg (full @RG) → fixmate -m → sort → merge → markdup → CRAM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DeepVariant with vg-recommended make_examples args (min_mapping_quality=0, normalize_reads=true, …)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haplotype sampling (.hapl + KMC .kff), pangenome-aware DeepVariant (GBZ as extra channel)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 with containers; ~64 GB RAM for an HPRC graph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D7F0F0"/>
          </a:solidFill>
          <a:ln w="12700">
            <a:solidFill>
              <a:srgbClr val="D7F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germline-pangenome-gpu.cwl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Parabricks 4.7.1 (pbrun giraffe ≥ 4.5)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8803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pbrun giraffe takes all read groups at once via --in-fq-list (generated from fq1/fq2/rg), sorts and marks duplicates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samtools: prefix strip + CRAM (handles both prefixed and plain contig names)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pbrun deepvariant --gvcf --haploid-contigs per interval, then bcftools index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.zipcodes index (build with vg autoindex; HPRC does not ship it)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≥ 2 GPUs, 100 GB RAM, 32 threads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WGSpipeline → pangenome graph reference  ·  BioHackathon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details that make it a drop-in replacement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vg 1.70.0 on a toy graph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916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Contig names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10312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writes full PanSN path names (GRCh38#0#chr1) into @SQ — with --ref-paths and --ref-name alike. We strip the prefix on the header only (samtools reheader -c 'sed …'), so the CRAM matches Homo_sapiens_assembly38.fasta and existing interval BEDs. ref_path_prefix is a parameter ("CHM13#0#", "" …).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2461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groups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65760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 giraffe -R/-N only set ID and SM; a full spec is swallowed into ID. The user's existing @RG string (literal \t or real tabs) is applied afterwards with samtools addreplacerg -m overwrite_all. pbrun giraffe accepts the @RG string per line of --in-fq-list, like fq2bam.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548640" cy="54864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846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800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Ploidy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21208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DeepVariant is diploid by default; --haploid_contigs chrX / chrY reproduces the HaplotypeCaller --ploidy 1 runs. chrX.bed already excludes PAR, so no --par_regions_bed is needed (Parabricks does not have it).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WGSpipeline → pangenome graph reference  ·  BioHackathon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your own graph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scripts/prepare_pangenome_indexes.sh &lt;graph.gbz&gt; &lt;prefix&gt; [ref_sample] [linear.fa]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4747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 paths -S GRCh38 -L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688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ref_paths.txt — ordered reference paths; suggests ref_path_prefix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9080" y="2057400"/>
            <a:ext cx="182880" cy="91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97680" y="173736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97680" y="1737360"/>
            <a:ext cx="34747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 paths -F + md5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4688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reference from the graph and checks every contig against the linear FASTA (must match for CRAM &amp; DeepVariant)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18120" y="2057400"/>
            <a:ext cx="182880" cy="91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46720" y="173736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0" y="1737360"/>
            <a:ext cx="34747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 autoindex -w giraffe -G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24688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.dist / .min / .zipcodes (skip with SKIP_AUTOINDEX=1 when the graph ships them)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graph sources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34840"/>
            <a:ext cx="11064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HPRC Release 2 — minigraph-cactus v2.0, GRCh38 backbone, AF-filtered d46 indexes (.gbz .dist .min; .hapl for haplotype sampling)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/ Japanese population graph — any GBZ whose reference paths are PanSN-named (&lt;sample&gt;#&lt;hap&gt;#&lt;contig&gt;); more graphs planned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graph — 3 contigs (GRCh38#0#chr20/chrX/chrY) + 4 synthetic samples, for CI-style tests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WGSpipeline → pangenome graph reference  ·  BioHackathon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so far: plumbing proven end-to-end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tests/toy/run_toy_test.sh — no GPU, no containers, about one minute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171 / 171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chr20 variant sites recovered — coordinates survive surjection and renaming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737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743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groups and workflows (CPU + GPU) run end-to-end, @RG and markdup as expected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737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vs 0/1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2743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chrX called haploid, female run diploid — interval/ploidy logic works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40480"/>
            <a:ext cx="11064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set: 3-contig graph with GRCh38 marked as reference sample (like HPRC), ~30× paired reads simulated from a male sample over two lanes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alignment with vg 1.70.0; DeepVariant and Parabricks replaced by CLI-compatible stubs (bcftools/vg) — this checks plumbing, not calling accuracy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new CWL files validate with cwltool; container images are hints, so cwltool --no-container works for tests and --singularity for production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WGSpipeline → pangenome graph reference  ·  BioHackathon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variants: three complementary layers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reads + a pangenome: genotype what the graph knows, discover the rest on GRCh38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Genome-wide, known SVs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genotyping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6459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 pack → vg call on giraffe GAF/GAM (HPRC method): genotypes every bubble in the graph, VCF on GRCh38 paths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PanGenie: alignment-free k-mer genotyping of a panel VCF — works on FASTQ, fits the GPU track too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CPU track switched to giraffe → GAF → vg surject so the GAF is kept; vcfbub/vcfwave to normalise nested alleles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only SVs present in the graph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246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Genome-wide, novel SVs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840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callers on the surjected CRAM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1089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and CNVkit already in WGSpipeline run unchanged on the GRCh38 CRAM; Delly, smoove, GRIDSS likewise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layer that finds SVs absent from the graph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surjected reads carry long soft-clips/gaps at non-reference alleles — insertion calls and filters need re-validation vs BWA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709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loci, structural haplotypes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303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cosigt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45720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the best pair of assembly haplotypes per locus by cosine similarity of graph node coverage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the GRCh38 CRAM + a regions BED + panel assemblies → drop-in after either track, even at low coverage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Japanese graph pays off most: population-specific haplotypes at HLA, KIR, AMY, LPA, CYP2D6, SMN, RH…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layers with Truvari / Jasmine; evaluate against the GIAB HG002 SV benchmark with Truvari.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WGSpipeline → pangenome graph reference  ·  BioHackathon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cosigt: genotyping complex loci with the pangenome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Bolognini et al., Genome Biology 2026 · Snakemake + Apptainer · github.com/davidebolo1993/cosigt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16916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assemblies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regions BED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58568" y="2125980"/>
            <a:ext cx="146304" cy="91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17373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23160" y="1737360"/>
            <a:ext cx="16916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impg: extract locus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each assembly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33088" y="2125980"/>
            <a:ext cx="146304" cy="91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97680" y="17373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737360"/>
            <a:ext cx="16916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pggb: per-locus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(GFA)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07608" y="2125980"/>
            <a:ext cx="146304" cy="91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72200" y="17373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1737360"/>
            <a:ext cx="16916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CRAM (GRCh38):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+ unmapped reads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82128" y="2125980"/>
            <a:ext cx="146304" cy="91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46720" y="17373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0" y="1737360"/>
            <a:ext cx="16916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bwa-mem2 → gfainject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gafpack coverage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756648" y="2125980"/>
            <a:ext cx="146304" cy="91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921240" y="17373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21240" y="1737360"/>
            <a:ext cx="16916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best haplotype pair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834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fits this project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24612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exactly what both tracks produce: a GRCh38-coordinate CRAM (giraffe-derived reads land even better at non-reference alleles)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same assemblies the Japanese graph was built from → population-specific structural haplotypes become directly genotypable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low-coverage, population-scale runs; haplotype clustering handles individuals absent from the panel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outputs: svim-asm SV VCF of the chosen haplotypes (sv_calling: true), per-region VCF, odgi/pangene plots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2834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keep in mind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24612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Locus-based, not genome-wide: a curated regions BED (HLA, KIR, AMY1/2, LPA, CYP2D6, SMN1/2, GBA, RHD/RHCE, …) is part of the design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assembly FASTAs, not only the GBZ — graphs are rebuilt per locus with pggb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output is a haplotype/cluster assignment; VCF integration with the existing downstream is a design task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pilot on HPRC v2 assemblies + HG002 at the amylase locus (published benchmark), then swap in Japanese assemblies and target loci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WGSpipeline → pangenome graph reference  ·  BioHackathon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(branch pangenome-workflow, 21 files)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and zip against NCGM-genome/WGSpipeline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germline-pangenome-cpu.cwl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germline-pangenome-gpu.cwl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D7F0F0"/>
          </a:solidFill>
          <a:ln w="12700">
            <a:solidFill>
              <a:srgbClr val="D7F0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42316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vg-giraffe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samtools-postprocess-lane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samtools-merge-markdup-cram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deepvariant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deepvariant-pangenome-aware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pbrun-giraffe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samtools-bam2cram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pbrun-deepvariant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bcftools-index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42316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scripts/prepare_pangenome_indexes.sh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tests/toy/ (data + graph generators, jobs, stubs, runner)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README-pangenome.md (usage, design notes)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design notes (Japanese)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012326" y="691286"/>
            <a:ext cx="804672" cy="289682"/>
          </a:xfrm>
          <a:prstGeom prst="line">
            <a:avLst/>
          </a:prstGeom>
          <a:noFill/>
          <a:ln w="30480">
            <a:solidFill>
              <a:srgbClr val="0F8B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16998" y="691286"/>
            <a:ext cx="804672" cy="289682"/>
          </a:xfrm>
          <a:prstGeom prst="line">
            <a:avLst/>
          </a:prstGeom>
          <a:noFill/>
          <a:ln w="30480">
            <a:solidFill>
              <a:srgbClr val="0F8B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12326" y="980968"/>
            <a:ext cx="804672" cy="289682"/>
          </a:xfrm>
          <a:prstGeom prst="line">
            <a:avLst/>
          </a:prstGeom>
          <a:noFill/>
          <a:ln w="30480">
            <a:solidFill>
              <a:srgbClr val="0F8B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816998" y="980968"/>
            <a:ext cx="804672" cy="289682"/>
          </a:xfrm>
          <a:prstGeom prst="line">
            <a:avLst/>
          </a:prstGeom>
          <a:noFill/>
          <a:ln w="30480">
            <a:solidFill>
              <a:srgbClr val="0F8B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10621670" y="836127"/>
            <a:ext cx="804672" cy="144841"/>
          </a:xfrm>
          <a:prstGeom prst="line">
            <a:avLst/>
          </a:prstGeom>
          <a:noFill/>
          <a:ln w="30480">
            <a:solidFill>
              <a:srgbClr val="0F8B8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16998" y="691286"/>
            <a:ext cx="1609344" cy="144841"/>
          </a:xfrm>
          <a:prstGeom prst="line">
            <a:avLst/>
          </a:prstGeom>
          <a:noFill/>
          <a:ln w="30480">
            <a:solidFill>
              <a:srgbClr val="0F8B8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746882"/>
            <a:ext cx="468173" cy="468173"/>
          </a:xfrm>
          <a:prstGeom prst="ellipse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82912" y="457200"/>
            <a:ext cx="468173" cy="468173"/>
          </a:xfrm>
          <a:prstGeom prst="ellipse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7584" y="746882"/>
            <a:ext cx="468173" cy="468173"/>
          </a:xfrm>
          <a:prstGeom prst="ellipse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82912" y="1036564"/>
            <a:ext cx="468173" cy="468173"/>
          </a:xfrm>
          <a:prstGeom prst="ellipse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92256" y="602041"/>
            <a:ext cx="468173" cy="468173"/>
          </a:xfrm>
          <a:prstGeom prst="ellipse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for the hackathon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" y="1691640"/>
            <a:ext cx="411480" cy="41148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1645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057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NA12878 / HG002 with cwltool --singularity (real DeepVariant); compare against germline-gpu.cwl with hap.py on GIAB truth sets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1691640"/>
            <a:ext cx="411480" cy="41148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1645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check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057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pbrun giraffe --in-fq-list @RG format and output contig naming on a GPU node (both cases already handled)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3108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Japanese graph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3520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prepare_pangenome_indexes.sh on the custom GBZ, set ref_path_prefix, benchmark vs HPRC v2.0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3154680"/>
            <a:ext cx="411480" cy="41148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0936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3108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Haplotype sampling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3520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KMC k-mer counting → .kff step to personalise the graph per sample (unfiltered graphs)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617720"/>
            <a:ext cx="411480" cy="41148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4617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234440" y="4572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variants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1234440" y="4983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manta.nf on the pangenome CRAM and compare; add giraffe → GAF → vg surject so vg call / PanGenie can genotype known SVs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4617720"/>
            <a:ext cx="411480" cy="41148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09360" y="4617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903720" y="4572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cosigt pilot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6903720" y="4983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HPRC v2 assemblies + HG002 at AMY; then Japanese assemblies with a curated complex-locus BED; decide VCF integration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github.com/NCGM-genome/WGSpipeline  ·  README-pangenome.md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2026-09-14T01:25:02Z</dcterms:created>
  <dcterms:modified xsi:type="dcterms:W3CDTF">2026-09-14T01:25:02Z</dcterms:modified>
</cp:coreProperties>
</file>